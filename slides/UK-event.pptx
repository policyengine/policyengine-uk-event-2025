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0dc8b19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0dc8b19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ourselves</a:t>
            </a:r>
            <a:br>
              <a:rPr lang="en"/>
            </a:br>
            <a:br>
              <a:rPr lang="en"/>
            </a:br>
            <a:r>
              <a:rPr lang="en"/>
              <a:t>Empowering policymakers and the public with high-quality evidence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f0dc8b19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f0dc8b19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f0dc8b19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f0dc8b19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ourselves</a:t>
            </a:r>
            <a:br>
              <a:rPr lang="en"/>
            </a:br>
            <a:br>
              <a:rPr lang="en"/>
            </a:br>
            <a:r>
              <a:rPr lang="en"/>
              <a:t>Empowering policymakers and the public with high-quality evidence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f0dc8b19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f0dc8b19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f0dc8b19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f0dc8b19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0dc8b19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f0dc8b19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f0dc8b193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f0dc8b19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f0dc8b19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f0dc8b19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0dc8b193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f0dc8b193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f0dc8b19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f0dc8b19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f0dc8b193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f0dc8b19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0dc8b19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f0dc8b19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17354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17354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 amt="4000"/>
          </a:blip>
          <a:srcRect b="56369" l="0" r="0" t="15527"/>
          <a:stretch/>
        </p:blipFill>
        <p:spPr>
          <a:xfrm>
            <a:off x="0" y="0"/>
            <a:ext cx="9144000" cy="11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/>
          <p:nvPr/>
        </p:nvSpPr>
        <p:spPr>
          <a:xfrm flipH="1" rot="10800000">
            <a:off x="0" y="1216200"/>
            <a:ext cx="9144000" cy="39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0" y="11526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71900" y="1516975"/>
            <a:ext cx="82221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500" y="77475"/>
            <a:ext cx="1204749" cy="25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17354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 amt="4000"/>
          </a:blip>
          <a:srcRect b="56369" l="0" r="0" t="15527"/>
          <a:stretch/>
        </p:blipFill>
        <p:spPr>
          <a:xfrm>
            <a:off x="0" y="0"/>
            <a:ext cx="9144000" cy="11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/>
          <p:nvPr/>
        </p:nvSpPr>
        <p:spPr>
          <a:xfrm flipH="1" rot="10800000">
            <a:off x="0" y="1216200"/>
            <a:ext cx="9144000" cy="39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0" y="11526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71900" y="1516975"/>
            <a:ext cx="82221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14265" l="0" r="0" t="12613"/>
          <a:stretch/>
        </p:blipFill>
        <p:spPr>
          <a:xfrm>
            <a:off x="7948700" y="0"/>
            <a:ext cx="1195301" cy="49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76;p1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17354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k-vatlab-app1j7s6o-policy-engine.vercel.app/" TargetMode="External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520995"/>
            <a:ext cx="9144000" cy="410150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 txBox="1"/>
          <p:nvPr/>
        </p:nvSpPr>
        <p:spPr>
          <a:xfrm>
            <a:off x="515700" y="2236800"/>
            <a:ext cx="48168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PolicyEngine</a:t>
            </a:r>
            <a:endParaRPr b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[UPDATE FOR EVENT]</a:t>
            </a:r>
            <a:endParaRPr b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Max Ghenis, Co-founder and CEO</a:t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Nikhil Woodruff, Co-founder and CTO</a:t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2025-05-29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1550" y="4141904"/>
            <a:ext cx="2312500" cy="4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Agenda</a:t>
            </a:r>
            <a:endParaRPr sz="2900"/>
          </a:p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471900" y="1516975"/>
            <a:ext cx="82221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t/>
            </a:r>
            <a:endParaRPr sz="15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520995"/>
            <a:ext cx="9144000" cy="410150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1"/>
          <p:cNvSpPr txBox="1"/>
          <p:nvPr/>
        </p:nvSpPr>
        <p:spPr>
          <a:xfrm>
            <a:off x="515700" y="2236800"/>
            <a:ext cx="6863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VAT analysis with synthetic firm microdata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1550" y="4141904"/>
            <a:ext cx="2312500" cy="4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VAT threshold reform and synthetic data</a:t>
            </a:r>
            <a:endParaRPr sz="2900"/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471900" y="1516975"/>
            <a:ext cx="82221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The UK requires businesses to register for VAT and charge </a:t>
            </a:r>
            <a:r>
              <a:rPr b="1" lang="en" sz="1500">
                <a:solidFill>
                  <a:srgbClr val="595959"/>
                </a:solidFill>
              </a:rPr>
              <a:t>20%</a:t>
            </a:r>
            <a:r>
              <a:rPr lang="en" sz="1500">
                <a:solidFill>
                  <a:srgbClr val="595959"/>
                </a:solidFill>
              </a:rPr>
              <a:t> on sales once annual turnover exceeds </a:t>
            </a:r>
            <a:r>
              <a:rPr b="1" lang="en" sz="1500">
                <a:solidFill>
                  <a:srgbClr val="595959"/>
                </a:solidFill>
              </a:rPr>
              <a:t>£90,000</a:t>
            </a:r>
            <a:r>
              <a:rPr lang="en" sz="1500">
                <a:solidFill>
                  <a:srgbClr val="595959"/>
                </a:solidFill>
              </a:rPr>
              <a:t>, an increase from </a:t>
            </a:r>
            <a:r>
              <a:rPr b="1" lang="en" sz="1500">
                <a:solidFill>
                  <a:srgbClr val="595959"/>
                </a:solidFill>
              </a:rPr>
              <a:t>£85,000</a:t>
            </a:r>
            <a:r>
              <a:rPr lang="en" sz="1500">
                <a:solidFill>
                  <a:srgbClr val="595959"/>
                </a:solidFill>
              </a:rPr>
              <a:t> in 2024–25.</a:t>
            </a:r>
            <a:endParaRPr sz="15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There is active policy debate about whether the VAT registration threshold should be increased further.</a:t>
            </a:r>
            <a:endParaRPr sz="15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We analyse the effects of different VAT registration thresholds and </a:t>
            </a:r>
            <a:r>
              <a:rPr b="1" lang="en" sz="1500">
                <a:solidFill>
                  <a:srgbClr val="595959"/>
                </a:solidFill>
              </a:rPr>
              <a:t>smoothed phase-ins</a:t>
            </a:r>
            <a:r>
              <a:rPr lang="en" sz="1500">
                <a:solidFill>
                  <a:srgbClr val="595959"/>
                </a:solidFill>
              </a:rPr>
              <a:t> on revenues and the number of VAT-registered firms.</a:t>
            </a:r>
            <a:endParaRPr sz="15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We calibrate synthetic firm microdata using </a:t>
            </a:r>
            <a:r>
              <a:rPr b="1" lang="en" sz="1500">
                <a:solidFill>
                  <a:srgbClr val="595959"/>
                </a:solidFill>
              </a:rPr>
              <a:t>ONS UK Business Statistics</a:t>
            </a:r>
            <a:r>
              <a:rPr lang="en" sz="1500">
                <a:solidFill>
                  <a:srgbClr val="595959"/>
                </a:solidFill>
              </a:rPr>
              <a:t> for firm distributions and </a:t>
            </a:r>
            <a:r>
              <a:rPr b="1" lang="en" sz="1500">
                <a:solidFill>
                  <a:srgbClr val="595959"/>
                </a:solidFill>
              </a:rPr>
              <a:t>HMRC VAT Statistics</a:t>
            </a:r>
            <a:r>
              <a:rPr lang="en" sz="1500">
                <a:solidFill>
                  <a:srgbClr val="595959"/>
                </a:solidFill>
              </a:rPr>
              <a:t> for VAT-registered business profiles.</a:t>
            </a:r>
            <a:endParaRPr sz="15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Firm turnover distribution (ONS and HMRC)</a:t>
            </a:r>
            <a:endParaRPr sz="2900"/>
          </a:p>
        </p:txBody>
      </p:sp>
      <p:pic>
        <p:nvPicPr>
          <p:cNvPr id="111" name="Google Shape;1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12" y="1442925"/>
            <a:ext cx="3966839" cy="343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250" y="1442913"/>
            <a:ext cx="3995762" cy="343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Firm-level microdata</a:t>
            </a:r>
            <a:endParaRPr sz="2900"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471900" y="1516975"/>
            <a:ext cx="35484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We construct synthetic firm microdata using weight optimisation and multi-objective calibration to match ONS firm structures and HMRC VAT profiles.</a:t>
            </a:r>
            <a:endParaRPr sz="15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We capture turnover, sector, employment size, and VAT liability with over </a:t>
            </a:r>
            <a:r>
              <a:rPr b="1" lang="en" sz="1500">
                <a:solidFill>
                  <a:srgbClr val="595959"/>
                </a:solidFill>
              </a:rPr>
              <a:t>200</a:t>
            </a:r>
            <a:r>
              <a:rPr lang="en" sz="1500">
                <a:solidFill>
                  <a:srgbClr val="595959"/>
                </a:solidFill>
              </a:rPr>
              <a:t> calibration targets.</a:t>
            </a:r>
            <a:endParaRPr sz="1500">
              <a:solidFill>
                <a:srgbClr val="595959"/>
              </a:solidFill>
            </a:endParaRPr>
          </a:p>
        </p:txBody>
      </p:sp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175" y="1380525"/>
            <a:ext cx="4237875" cy="360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Comparison with HMRC projections</a:t>
            </a:r>
            <a:endParaRPr sz="2900"/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471900" y="1516975"/>
            <a:ext cx="35484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We benchmark our results against HMRC's published projections for raising the VAT threshold from £85k to £90k.</a:t>
            </a:r>
            <a:endParaRPr sz="15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We apply OBR Retail Price Index growth to firm turnover and VAT liabilities, holding firm counts constant and assuming no behavioural responses.</a:t>
            </a:r>
            <a:endParaRPr sz="1500">
              <a:solidFill>
                <a:srgbClr val="595959"/>
              </a:solidFill>
            </a:endParaRPr>
          </a:p>
        </p:txBody>
      </p:sp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200" y="1468550"/>
            <a:ext cx="4818901" cy="33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Static simulation </a:t>
            </a:r>
            <a:r>
              <a:rPr lang="en" sz="2900" u="sng">
                <a:solidFill>
                  <a:schemeClr val="hlink"/>
                </a:solidFill>
                <a:hlinkClick r:id="rId3"/>
              </a:rPr>
              <a:t>dashboard</a:t>
            </a:r>
            <a:endParaRPr sz="2900"/>
          </a:p>
        </p:txBody>
      </p:sp>
      <p:pic>
        <p:nvPicPr>
          <p:cNvPr id="132" name="Google Shape;13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688" y="1212125"/>
            <a:ext cx="6440535" cy="378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Firm VAT dynamic modelling</a:t>
            </a:r>
            <a:endParaRPr sz="2900"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471900" y="1516975"/>
            <a:ext cx="82221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Firms respond to tax incentives! We extend the model to capture behavioural responses.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Firms maximise profits by choosing output: 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Firms choose output where marginal revenue net of VAT equals marginal cost.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We assume a Cobb–Douglas production technology: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This lets us back out firm-specific marginal costs from observed input and output data, capturing heterogeneity in productivity across firms.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595959"/>
                </a:solidFill>
              </a:rPr>
              <a:t>We model VAT using a smooth sigmoid tax schedule: 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</p:txBody>
      </p:sp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9284" l="0" r="0" t="15594"/>
          <a:stretch/>
        </p:blipFill>
        <p:spPr>
          <a:xfrm>
            <a:off x="4722250" y="2025450"/>
            <a:ext cx="2225375" cy="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1875" y="2681600"/>
            <a:ext cx="871771" cy="2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6625" y="3436875"/>
            <a:ext cx="2295200" cy="4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Behavioural extension and elasticity</a:t>
            </a:r>
            <a:endParaRPr sz="2900"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471900" y="1516975"/>
            <a:ext cx="82221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Extension: We incorporate asymmetric uncertainty around the threshold to capture realistic firm variation: 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No-notch: We follow the bunching literature (Saez, 2010; Chetty et al., 2011; Kleven &amp; Waseem, 2013; </a:t>
            </a:r>
            <a:r>
              <a:rPr lang="en" sz="1500">
                <a:solidFill>
                  <a:srgbClr val="595959"/>
                </a:solidFill>
              </a:rPr>
              <a:t>Liu &amp; Lockwood, 2015</a:t>
            </a:r>
            <a:r>
              <a:rPr lang="en" sz="1500">
                <a:solidFill>
                  <a:srgbClr val="595959"/>
                </a:solidFill>
              </a:rPr>
              <a:t>) by fitting a smooth polynomial to the turnover distribution. 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Elasticity Estimation: </a:t>
            </a:r>
            <a:r>
              <a:rPr lang="en" sz="1500">
                <a:solidFill>
                  <a:srgbClr val="595959"/>
                </a:solidFill>
              </a:rPr>
              <a:t>We find the mapping from each firm’s real-world turnover to its turnover under the counterfactual scenario (here, the no-notch distribution), and then estimate elasticities.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6100" y="1946275"/>
            <a:ext cx="2396300" cy="2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5500" y="2260975"/>
            <a:ext cx="3981200" cy="5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471900" y="2815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Turnover distributions</a:t>
            </a:r>
            <a:endParaRPr sz="2900"/>
          </a:p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750" y="1278250"/>
            <a:ext cx="5706501" cy="3789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044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17354F"/>
      </a:dk1>
      <a:lt1>
        <a:srgbClr val="FFFFFF"/>
      </a:lt1>
      <a:dk2>
        <a:srgbClr val="424242"/>
      </a:dk2>
      <a:lt2>
        <a:srgbClr val="737373"/>
      </a:lt2>
      <a:accent1>
        <a:srgbClr val="0279B7"/>
      </a:accent1>
      <a:accent2>
        <a:srgbClr val="BDD435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